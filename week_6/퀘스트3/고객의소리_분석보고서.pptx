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리뷰 수</c:v>
                </c:pt>
              </c:strCache>
            </c:strRef>
          </c:tx>
          <c:dPt>
            <c:idx val="0"/>
            <c:spPr>
              <a:solidFill>
                <a:srgbClr val="2F5D50"/>
              </a:solidFill>
            </c:spPr>
          </c:dPt>
          <c:dPt>
            <c:idx val="1"/>
            <c:spPr>
              <a:solidFill>
                <a:srgbClr val="2F5D50"/>
              </a:solidFill>
            </c:spPr>
          </c:dPt>
          <c:dPt>
            <c:idx val="2"/>
            <c:spPr>
              <a:solidFill>
                <a:srgbClr val="8C6239"/>
              </a:solidFill>
            </c:spPr>
          </c:dPt>
          <c:dPt>
            <c:idx val="3"/>
            <c:spPr>
              <a:solidFill>
                <a:srgbClr val="C0504D"/>
              </a:solidFill>
            </c:spPr>
          </c:dPt>
          <c:dPt>
            <c:idx val="4"/>
            <c:spPr>
              <a:solidFill>
                <a:srgbClr val="C0504D"/>
              </a:solidFill>
            </c:spPr>
          </c:dPt>
          <c:cat>
            <c:strRef>
              <c:f>Sheet1!$A$2:$A$6</c:f>
              <c:strCache>
                <c:ptCount val="5"/>
                <c:pt idx="0">
                  <c:v>5점</c:v>
                </c:pt>
                <c:pt idx="1">
                  <c:v>4점</c:v>
                </c:pt>
                <c:pt idx="2">
                  <c:v>3점</c:v>
                </c:pt>
                <c:pt idx="3">
                  <c:v>2점</c:v>
                </c:pt>
                <c:pt idx="4">
                  <c:v>1점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</c:v>
                </c:pt>
                <c:pt idx="1">
                  <c:v>17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평점</c:v>
                </c:pt>
              </c:strCache>
            </c:strRef>
          </c:tx>
          <c:spPr>
            <a:solidFill>
              <a:srgbClr val="2F5D50"/>
            </a:solidFill>
          </c:spPr>
          <c:cat>
            <c:strRef>
              <c:f>Sheet1!$A$2:$A$5</c:f>
              <c:strCache>
                <c:ptCount val="4"/>
                <c:pt idx="0">
                  <c:v>네이버</c:v>
                </c:pt>
                <c:pt idx="1">
                  <c:v>카카오맵</c:v>
                </c:pt>
                <c:pt idx="2">
                  <c:v>구글</c:v>
                </c:pt>
                <c:pt idx="3">
                  <c:v>인스타그램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4.91</c:v>
                </c:pt>
                <c:pt idx="1">
                  <c:v>4.05</c:v>
                </c:pt>
                <c:pt idx="2">
                  <c:v>4.25</c:v>
                </c:pt>
                <c:pt idx="3">
                  <c:v>4.71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3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리뷰 수</c:v>
                </c:pt>
              </c:strCache>
            </c:strRef>
          </c:tx>
          <c:spPr>
            <a:solidFill>
              <a:srgbClr val="8C6239"/>
            </a:solidFill>
          </c:spPr>
          <c:cat>
            <c:strRef>
              <c:f>Sheet1!$A$2:$A$5</c:f>
              <c:strCache>
                <c:ptCount val="4"/>
                <c:pt idx="0">
                  <c:v>네이버</c:v>
                </c:pt>
                <c:pt idx="1">
                  <c:v>카카오맵</c:v>
                </c:pt>
                <c:pt idx="2">
                  <c:v>구글</c:v>
                </c:pt>
                <c:pt idx="3">
                  <c:v>인스타그램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19</c:v>
                </c:pt>
                <c:pt idx="2">
                  <c:v>12</c:v>
                </c:pt>
                <c:pt idx="3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긍정 (4~5점)</c:v>
                </c:pt>
              </c:strCache>
            </c:strRef>
          </c:tx>
          <c:spPr>
            <a:solidFill>
              <a:srgbClr val="2F5D50"/>
            </a:solidFill>
          </c:spPr>
          <c:cat>
            <c:strRef>
              <c:f>Sheet1!$A$2:$A$9</c:f>
              <c:strCache>
                <c:ptCount val="8"/>
                <c:pt idx="0">
                  <c:v>주차·접근성</c:v>
                </c:pt>
                <c:pt idx="1">
                  <c:v>테이크아웃·포장</c:v>
                </c:pt>
                <c:pt idx="2">
                  <c:v>가격·가성비</c:v>
                </c:pt>
                <c:pt idx="3">
                  <c:v>서비스·사장님</c:v>
                </c:pt>
                <c:pt idx="4">
                  <c:v>좌석·대기</c:v>
                </c:pt>
                <c:pt idx="5">
                  <c:v>재방문·단골</c:v>
                </c:pt>
                <c:pt idx="6">
                  <c:v>공간·분위기</c:v>
                </c:pt>
                <c:pt idx="7">
                  <c:v>시그니처·맛(견과)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  <c:pt idx="5">
                  <c:v>8</c:v>
                </c:pt>
                <c:pt idx="6">
                  <c:v>17</c:v>
                </c:pt>
                <c:pt idx="7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불만 (3점 이하)</c:v>
                </c:pt>
              </c:strCache>
            </c:strRef>
          </c:tx>
          <c:spPr>
            <a:solidFill>
              <a:srgbClr val="C0504D"/>
            </a:solidFill>
          </c:spPr>
          <c:cat>
            <c:strRef>
              <c:f>Sheet1!$A$2:$A$9</c:f>
              <c:strCache>
                <c:ptCount val="8"/>
                <c:pt idx="0">
                  <c:v>주차·접근성</c:v>
                </c:pt>
                <c:pt idx="1">
                  <c:v>테이크아웃·포장</c:v>
                </c:pt>
                <c:pt idx="2">
                  <c:v>가격·가성비</c:v>
                </c:pt>
                <c:pt idx="3">
                  <c:v>서비스·사장님</c:v>
                </c:pt>
                <c:pt idx="4">
                  <c:v>좌석·대기</c:v>
                </c:pt>
                <c:pt idx="5">
                  <c:v>재방문·단골</c:v>
                </c:pt>
                <c:pt idx="6">
                  <c:v>공간·분위기</c:v>
                </c:pt>
                <c:pt idx="7">
                  <c:v>시그니처·맛(견과)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2B2B2B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평점</c:v>
                </c:pt>
              </c:strCache>
            </c:strRef>
          </c:tx>
          <c:dPt>
            <c:idx val="0"/>
            <c:spPr>
              <a:solidFill>
                <a:srgbClr val="8C6239"/>
              </a:solidFill>
            </c:spPr>
          </c:dPt>
          <c:dPt>
            <c:idx val="1"/>
            <c:spPr>
              <a:solidFill>
                <a:srgbClr val="8C6239"/>
              </a:solidFill>
            </c:spPr>
          </c:dPt>
          <c:dPt>
            <c:idx val="2"/>
            <c:spPr>
              <a:solidFill>
                <a:srgbClr val="8C6239"/>
              </a:solidFill>
            </c:spPr>
          </c:dPt>
          <c:dPt>
            <c:idx val="3"/>
            <c:spPr>
              <a:solidFill>
                <a:srgbClr val="8C6239"/>
              </a:solidFill>
            </c:spPr>
          </c:dPt>
          <c:dPt>
            <c:idx val="4"/>
            <c:spPr>
              <a:solidFill>
                <a:srgbClr val="2F5D50"/>
              </a:solidFill>
            </c:spPr>
          </c:dPt>
          <c:dPt>
            <c:idx val="5"/>
            <c:spPr>
              <a:solidFill>
                <a:srgbClr val="2F5D50"/>
              </a:solidFill>
            </c:spPr>
          </c:dPt>
          <c:dPt>
            <c:idx val="6"/>
            <c:spPr>
              <a:solidFill>
                <a:srgbClr val="2F5D50"/>
              </a:solidFill>
            </c:spPr>
          </c:dPt>
          <c:dPt>
            <c:idx val="7"/>
            <c:spPr>
              <a:solidFill>
                <a:srgbClr val="2F5D50"/>
              </a:solidFill>
            </c:spPr>
          </c:dPt>
          <c:cat>
            <c:strRef>
              <c:f>Sheet1!$A$2:$A$9</c:f>
              <c:strCache>
                <c:ptCount val="8"/>
                <c:pt idx="0">
                  <c:v>헤이즐넛 콜드브루</c:v>
                </c:pt>
                <c:pt idx="1">
                  <c:v>흑임자 라떼</c:v>
                </c:pt>
                <c:pt idx="2">
                  <c:v>올리브 치아바타</c:v>
                </c:pt>
                <c:pt idx="3">
                  <c:v>아메리카노</c:v>
                </c:pt>
                <c:pt idx="4">
                  <c:v>피칸 아인슈페너</c:v>
                </c:pt>
                <c:pt idx="5">
                  <c:v>너츠라떼 + 피칸파이 세트</c:v>
                </c:pt>
                <c:pt idx="6">
                  <c:v>피칸파이</c:v>
                </c:pt>
                <c:pt idx="7">
                  <c:v>너츠라떼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4.0</c:v>
                </c:pt>
                <c:pt idx="1">
                  <c:v>4.33</c:v>
                </c:pt>
                <c:pt idx="2">
                  <c:v>4.33</c:v>
                </c:pt>
                <c:pt idx="3">
                  <c:v>4.4</c:v>
                </c:pt>
                <c:pt idx="4">
                  <c:v>4.6</c:v>
                </c:pt>
                <c:pt idx="5">
                  <c:v>5.0</c:v>
                </c:pt>
                <c:pt idx="6">
                  <c:v>4.71</c:v>
                </c:pt>
                <c:pt idx="7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2.5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>
                <a:solidFill>
                  <a:srgbClr val="EFE8DA"/>
                </a:solidFill>
                <a:latin typeface="맑은 고딕"/>
              </a:rPr>
              <a:t>☕  Day On (데이온)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고객의 소리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EFE8DA"/>
                </a:solidFill>
                <a:latin typeface="맑은 고딕"/>
              </a:rPr>
              <a:t>리뷰 60건 · 4개 채널 · 2026-04-14 ~ 2026-07-12 (90일)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2743200" cy="54864"/>
          </a:xfrm>
          <a:prstGeom prst="roundRect">
            <a:avLst/>
          </a:prstGeom>
          <a:solidFill>
            <a:srgbClr val="8C6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FE8DA"/>
                </a:solidFill>
                <a:latin typeface="맑은 고딕"/>
              </a:rPr>
              <a:t>별점 분포 · 테마별 집계 · 개선 현황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리뷰 60건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606040" cy="160020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총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2F5D50"/>
                </a:solidFill>
                <a:latin typeface="맑은 고딕"/>
              </a:rPr>
              <a:t>60건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</a:rPr>
              <a:t>4개 채널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91640"/>
            <a:ext cx="2606040" cy="160020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49039" y="1874519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평균 평점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2F5D50"/>
                </a:solidFill>
                <a:latin typeface="맑은 고딕"/>
              </a:rPr>
              <a:t>4.48점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52928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</a:rPr>
              <a:t>5점 만점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2606040" cy="160020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0" y="1874519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긍정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2F5D50"/>
                </a:solidFill>
                <a:latin typeface="맑은 고딕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52928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</a:rPr>
              <a:t>4점 이상 54건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691640"/>
            <a:ext cx="2606040" cy="160020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418320" y="1874519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불만 건수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945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2F5D50"/>
                </a:solidFill>
                <a:latin typeface="맑은 고딕"/>
              </a:rPr>
              <a:t>6건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52928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</a:rPr>
              <a:t>3점 이하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107899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3886200"/>
            <a:ext cx="102412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8C6239"/>
                </a:solidFill>
                <a:latin typeface="맑은 고딕"/>
              </a:rPr>
              <a:t>핵심 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1024128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  <a:latin typeface="맑은 고딕"/>
              </a:rPr>
              <a:t>1.  시그니처는 강하다 — 너츠라떼 8회 언급 평균 5.00점, 불만 0건. 견과 테마가 실제로 먹히고 있다.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  <a:latin typeface="맑은 고딕"/>
              </a:rPr>
              <a:t>2.  불만은 메뉴가 아니라 '공간'에 있다 — 2점 리뷰 2건은 전부 좌석 부족·주차 문제.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  <a:latin typeface="맑은 고딕"/>
              </a:rPr>
              <a:t>3.  일반 메뉴는 약하다 — 카페라떼 3.00점, 자몽에이드 3.50점. "시그니처를 시키는 게 맞다"는 리뷰까지 나왔다.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별점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평균 4.48점 · 4점 이상이 90%를 차지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6304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63040"/>
            <a:ext cx="3703320" cy="475488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8C6239"/>
                </a:solidFill>
                <a:latin typeface="맑은 고딕"/>
              </a:rPr>
              <a:t>읽는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48840"/>
            <a:ext cx="32004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5점 37건 / 4점 17건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3점 4건 / 2점 2건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평점 자체는 건강하다.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다만 2점 2건이 모두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'좌석·주차' 문제다.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맛이 아니라 공간 때문에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손님을 잃고 있다.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→ 매출 직접 손실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채널별 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네이버는 후하고 카카오맵은 짜다 — 불만은 카카오맵에 모인다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00200"/>
          <a:ext cx="5577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92240" y="1600200"/>
          <a:ext cx="49834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</a:rPr>
              <a:t>◀ 채널별 평균 평점 (3~5점 구간)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26364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</a:rPr>
              <a:t>◀ 채널별 리뷰 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테마별 집계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리뷰 내용을 8개 테마로 분류 (한 건이 여러 테마에 중복 집계)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00200"/>
          <a:ext cx="7589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49640" y="1600200"/>
            <a:ext cx="2926080" cy="420624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0" y="1810512"/>
            <a:ext cx="2560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8C6239"/>
                </a:solidFill>
                <a:latin typeface="맑은 고딕"/>
              </a:rPr>
              <a:t>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240280"/>
            <a:ext cx="25603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칭찬은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'맛·공간'에 몰리고,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불만은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'좌석·주차·가격'에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몰린다.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즉 제품은 이겼고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공간 운영이 발목을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잡고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맑은 고딕"/>
              </a:rPr>
              <a:t>※ 키워드 기반 자동 분류 — 리뷰 1건이 여러 테마에 걸칠 수 있어 합계는 60을 넘는다.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메뉴별 리뷰 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시그니처는 5.00점 만점 — 일반 메뉴가 평균을 깎는다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600200"/>
          <a:ext cx="7589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49640" y="1600200"/>
            <a:ext cx="2926080" cy="4480560"/>
          </a:xfrm>
          <a:prstGeom prst="round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0" y="1810512"/>
            <a:ext cx="2560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8C6239"/>
                </a:solidFill>
                <a:latin typeface="맑은 고딕"/>
              </a:rPr>
              <a:t>손님의 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240280"/>
            <a:ext cx="256032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"라떼는 그냥 그랬어요.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시그니처 메뉴를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시키는 게 맞는 것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같습니다."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— 카카오맵 3점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너츠라떼 5.00점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간판세트 5.00점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───────────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카페라떼 3.00점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자몽에이드 3.50점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불만 사항 원문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3점 이하 6건 — 손님이 실제로 쓴 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544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2103120"/>
                <a:gridCol w="6492240"/>
              </a:tblGrid>
              <a:tr h="41801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평점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채널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언급 메뉴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리뷰 내용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504D"/>
                          </a:solidFill>
                          <a:latin typeface="맑은 고딕"/>
                        </a:rPr>
                        <a:t>2점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카카오맵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(메뉴 언급 없음)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주차가 아예 안 돼요. 골목이라 차 가져가면 고생합니다. 맛은 좋은데 접근성이 아쉬워요.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504D"/>
                          </a:solidFill>
                          <a:latin typeface="맑은 고딕"/>
                        </a:rPr>
                        <a:t>2점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카카오맵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(메뉴 언급 없음)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주말에 자리가 없어서 그냥 돌아왔어요. 좌석 확장 좀 해주세요...</a:t>
                      </a:r>
                    </a:p>
                  </a:txBody>
                  <a:tcPr anchor="ctr">
                    <a:solidFill>
                      <a:srgbClr val="FAECE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맑은 고딕"/>
                        </a:rPr>
                        <a:t>3점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구글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치아바타 샌드위치(햄치즈)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샌드위치는 무난했는데 8,500원은 살짝 비싼 느낌. 커피는 좋았어요.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맑은 고딕"/>
                        </a:rPr>
                        <a:t>3점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구글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자몽에이드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에이드는 평범했어요. 대신 커피랑 디저트는 확실히 잘합니다.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맑은 고딕"/>
                        </a:rPr>
                        <a:t>3점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카카오맵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카페라떼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라떼는 그냥 그랬어요. 시그니처 메뉴를 시키는 게 맞는 것 같습니다.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맑은 고딕"/>
                        </a:rPr>
                        <a:t>3점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카카오맵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피칸파이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피칸파이는 맛있는데 5,000원이면 조금 비싼 듯. 그래도 재방문 의사 있음.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7548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맑은 고딕"/>
              </a:rPr>
              <a:t>개선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맑은 고딕"/>
              </a:rPr>
              <a:t>고객의 소리 → 개선 과제 (현재 전부 '계획' 단계 — 아직 실행 전)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1005840"/>
                <a:gridCol w="3840480"/>
              </a:tblGrid>
              <a:tr h="746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고객의 소리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개선 과제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근거 데이터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주말에 자리가 없어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그냥 돌아왔다 (2점)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만석 시 테이크아웃 전환 유도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(피칸 토핑 무료, 가격 동일)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C6239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주말 테이크아웃 28.5%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vs 평일 42% → 전환 여지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주차가 아예 안 된다 (2점)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해결 불가 — 골목 상권 특성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대신 '도보 5분' 안내 강화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B6B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상권 구조상 개선 난이도 높음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샌드위치 8,500원은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비싸다 (3점)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가격 인하 대신 런치 세트로 전환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(샌드위치+아메리카노 10,500원)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C6239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햄치즈 최근 30일 -5.7% 역성장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라떼는 그냥 그랬다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시그니처를 시켜라 (3점)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비시그니처 메뉴 정리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(제철 과일 티 단종 검토)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C6239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과일 티 판매 최하위(70잔/30일)</a:t>
                      </a:r>
                    </a:p>
                  </a:txBody>
                  <a:tcPr anchor="ctr">
                    <a:solidFill>
                      <a:srgbClr val="EFE8D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(리뷰엔 없지만 데이터로 확인)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더우면 시그니처가 안 팔림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신메뉴 '피칸 크림 콜드브루'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6,500원 · 마진율 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F5D50"/>
                          </a:solidFill>
                          <a:latin typeface="맑은 고딕"/>
                        </a:rPr>
                        <a:t>제안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폭염일 매출 -18.3%</a:t>
                      </a:r>
                    </a:p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간판세트 -31.9%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C0504D"/>
                </a:solidFill>
                <a:latin typeface="맑은 고딕"/>
              </a:rPr>
              <a:t>※ 상태는 모두 실행 전 단계다. '개선 완료' 항목은 없다 — 실제 조치 후 갱신 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2011680" cy="45720"/>
          </a:xfrm>
          <a:prstGeom prst="roundRect">
            <a:avLst/>
          </a:prstGeom>
          <a:solidFill>
            <a:srgbClr val="8C6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10332720" cy="1005840"/>
          </a:xfrm>
          <a:prstGeom prst="roundRect">
            <a:avLst/>
          </a:prstGeom>
          <a:solidFill>
            <a:srgbClr val="3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9692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1.  제품은 이미 이겼다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79192"/>
            <a:ext cx="9692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FE8DA"/>
                </a:solidFill>
                <a:latin typeface="맑은 고딕"/>
              </a:rPr>
              <a:t>너츠라떼·간판세트 5.00점 만점, 불만 0건. 견과 테마 전략은 검증됐다. 건드리지 말 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10332720" cy="1005840"/>
          </a:xfrm>
          <a:prstGeom prst="roundRect">
            <a:avLst/>
          </a:prstGeom>
          <a:solidFill>
            <a:srgbClr val="3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34440" y="3502152"/>
            <a:ext cx="9692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2.  발목을 잡는 건 공간이다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13632"/>
            <a:ext cx="9692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FE8DA"/>
                </a:solidFill>
                <a:latin typeface="맑은 고딕"/>
              </a:rPr>
              <a:t>2점 리뷰 2건 전부 좌석·주차. 맛이 아니라 자리가 없어서 손님을 돌려보내고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17720"/>
            <a:ext cx="10332720" cy="1005840"/>
          </a:xfrm>
          <a:prstGeom prst="roundRect">
            <a:avLst/>
          </a:prstGeom>
          <a:solidFill>
            <a:srgbClr val="3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4736592"/>
            <a:ext cx="9692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3.  일반 메뉴가 평균을 깎는다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48072"/>
            <a:ext cx="9692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FE8DA"/>
                </a:solidFill>
                <a:latin typeface="맑은 고딕"/>
              </a:rPr>
              <a:t>카페라떼 3.00점, 자몽에이드 3.50점. 시그니처로 흡수하거나 정리해야 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EFE8DA"/>
                </a:solidFill>
                <a:latin typeface="맑은 고딕"/>
              </a:rPr>
              <a:t>다음 액션 — ① 주말 테이크아웃 전환 유도  ② 피칸 크림 콜드브루 출시  ③ 피칸 재고 선발주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
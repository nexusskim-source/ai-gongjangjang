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예상 비용(억원)</c:v>
                </c:pt>
              </c:strCache>
            </c:strRef>
          </c:tx>
          <c:spPr>
            <a:solidFill>
              <a:srgbClr val="2E6BB8"/>
            </a:solidFill>
          </c:spPr>
          <c:cat>
            <c:strRef>
              <c:f>Sheet1!$A$2:$A$4</c:f>
              <c:strCache>
                <c:ptCount val="3"/>
                <c:pt idx="0">
                  <c:v>인증체계</c:v>
                </c:pt>
                <c:pt idx="1">
                  <c:v>로그·감사</c:v>
                </c:pt>
                <c:pt idx="2">
                  <c:v>외부점검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3장까지만 보는 임원을 위해 결론을 맨 앞에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17520"/>
          </a:xfrm>
          <a:prstGeom prst="rect">
            <a:avLst/>
          </a:prstGeom>
          <a:solidFill>
            <a:srgbClr val="1B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전자금융거래법 개정 — DT본부장 검토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B8C8E0"/>
                </a:solidFill>
                <a:latin typeface="맑은 고딕"/>
              </a:rPr>
              <a:t>이사회 보고자료 (렌더러 테스트용 샘플)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맑은 고딕"/>
              </a:rPr>
              <a:t>DT본부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82296" cy="45720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603504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35F"/>
                </a:solidFill>
                <a:latin typeface="맑은 고딕"/>
              </a:rPr>
              <a:t>결론: 18개월 내 인증체계 전면 재설계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172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45775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E6BB8"/>
                </a:solidFill>
                <a:latin typeface="맑은 고딕"/>
              </a:rPr>
              <a:t>• </a:t>
            </a:r>
            <a:r>
              <a:rPr sz="2000" b="0">
                <a:solidFill>
                  <a:srgbClr val="22262B"/>
                </a:solidFill>
                <a:latin typeface="맑은 고딕"/>
              </a:rPr>
              <a:t>2027년 1월 시행 — 유예기간 없음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6BB8"/>
                </a:solidFill>
                <a:latin typeface="맑은 고딕"/>
              </a:rPr>
              <a:t>• </a:t>
            </a:r>
            <a:r>
              <a:rPr sz="2000" b="0">
                <a:solidFill>
                  <a:srgbClr val="22262B"/>
                </a:solidFill>
                <a:latin typeface="맑은 고딕"/>
              </a:rPr>
              <a:t>우리 은행 + 자회사 2곳 모두 적용 대상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– 전자금융업 등록 별도 필요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– 미등록 시 과태료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E6BB8"/>
                </a:solidFill>
                <a:latin typeface="맑은 고딕"/>
              </a:rPr>
              <a:t>• </a:t>
            </a:r>
            <a:r>
              <a:rPr sz="2000" b="0">
                <a:solidFill>
                  <a:srgbClr val="22262B"/>
                </a:solidFill>
                <a:latin typeface="맑은 고딕"/>
              </a:rPr>
              <a:t>예상 비용 20억, 인증체계가 60% 차지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82296" cy="45720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603504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35F"/>
                </a:solidFill>
                <a:latin typeface="맑은 고딕"/>
              </a:rPr>
              <a:t>관련 법령 매핑 — 3개 규정 동시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172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691640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자료</a:t>
                      </a:r>
                    </a:p>
                  </a:txBody>
                  <a:tcPr anchor="ctr">
                    <a:solidFill>
                      <a:srgbClr val="1B33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핵심 조항</a:t>
                      </a:r>
                    </a:p>
                  </a:txBody>
                  <a:tcPr anchor="ctr">
                    <a:solidFill>
                      <a:srgbClr val="1B33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우리 기관 관련성</a:t>
                      </a:r>
                    </a:p>
                  </a:txBody>
                  <a:tcPr anchor="ctr">
                    <a:solidFill>
                      <a:srgbClr val="1B33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전자금융거래법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제6조 접근매체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인증 체계 재설계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전자금융감독규정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제13조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로그 보존 5년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신용정보법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제32조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62B"/>
                          </a:solidFill>
                          <a:latin typeface="맑은 고딕"/>
                        </a:rPr>
                        <a:t>동의 절차 변경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82296" cy="45720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603504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35F"/>
                </a:solidFill>
                <a:latin typeface="맑은 고딕"/>
              </a:rPr>
              <a:t>인증체계 개편이 비용의 60%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172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91640"/>
          <a:ext cx="10545775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394960"/>
            <a:ext cx="10545775" cy="64008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1B335F"/>
                </a:solidFill>
                <a:latin typeface="맑은 고딕"/>
              </a:rPr>
              <a:t>→ 인증체계 개편을 먼저 확정해야 나머지 예산이 확정된다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82296" cy="45720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603504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35F"/>
                </a:solidFill>
                <a:latin typeface="맑은 고딕"/>
              </a:rPr>
              <a:t>대응 로드맵 — Q3 착수해야 시행일을 맞춘다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172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15768"/>
            <a:ext cx="10545775" cy="27432"/>
          </a:xfrm>
          <a:prstGeom prst="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54872" y="2606040"/>
            <a:ext cx="201168" cy="201168"/>
          </a:xfrm>
          <a:prstGeom prst="ellipse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4649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35F"/>
                </a:solidFill>
                <a:latin typeface="맑은 고딕"/>
              </a:rPr>
              <a:t>2026 Q3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2464993" cy="118872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62B"/>
                </a:solidFill>
                <a:latin typeface="맑은 고딕"/>
              </a:rPr>
              <a:t>영향도 분석 · TF 구성</a:t>
            </a:r>
          </a:p>
        </p:txBody>
      </p:sp>
      <p:sp>
        <p:nvSpPr>
          <p:cNvPr id="9" name="Oval 8"/>
          <p:cNvSpPr/>
          <p:nvPr/>
        </p:nvSpPr>
        <p:spPr>
          <a:xfrm>
            <a:off x="4648465" y="2606040"/>
            <a:ext cx="201168" cy="201168"/>
          </a:xfrm>
          <a:prstGeom prst="ellipse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6553" y="2148840"/>
            <a:ext cx="24649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35F"/>
                </a:solidFill>
                <a:latin typeface="맑은 고딕"/>
              </a:rPr>
              <a:t>2026 Q4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6553" y="3063240"/>
            <a:ext cx="2464993" cy="118872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62B"/>
                </a:solidFill>
                <a:latin typeface="맑은 고딕"/>
              </a:rPr>
              <a:t>시스템 설계 · 예산 확보</a:t>
            </a:r>
          </a:p>
        </p:txBody>
      </p:sp>
      <p:sp>
        <p:nvSpPr>
          <p:cNvPr id="12" name="Oval 11"/>
          <p:cNvSpPr/>
          <p:nvPr/>
        </p:nvSpPr>
        <p:spPr>
          <a:xfrm>
            <a:off x="7342058" y="2606040"/>
            <a:ext cx="201168" cy="201168"/>
          </a:xfrm>
          <a:prstGeom prst="ellipse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6" y="2148840"/>
            <a:ext cx="24649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35F"/>
                </a:solidFill>
                <a:latin typeface="맑은 고딕"/>
              </a:rPr>
              <a:t>2027 Q1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6" y="3063240"/>
            <a:ext cx="2464993" cy="118872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62B"/>
                </a:solidFill>
                <a:latin typeface="맑은 고딕"/>
              </a:rPr>
              <a:t>구축 · 감독당국 협의</a:t>
            </a:r>
          </a:p>
        </p:txBody>
      </p:sp>
      <p:sp>
        <p:nvSpPr>
          <p:cNvPr id="15" name="Oval 14"/>
          <p:cNvSpPr/>
          <p:nvPr/>
        </p:nvSpPr>
        <p:spPr>
          <a:xfrm>
            <a:off x="10035651" y="2606040"/>
            <a:ext cx="201168" cy="201168"/>
          </a:xfrm>
          <a:prstGeom prst="ellipse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739" y="2148840"/>
            <a:ext cx="24649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35F"/>
                </a:solidFill>
                <a:latin typeface="맑은 고딕"/>
              </a:rPr>
              <a:t>2027.01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3739" y="3063240"/>
            <a:ext cx="2464993" cy="118872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22262B"/>
                </a:solidFill>
                <a:latin typeface="맑은 고딕"/>
              </a:rPr>
              <a:t>규제 시행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85800"/>
            <a:ext cx="82296" cy="457200"/>
          </a:xfrm>
          <a:prstGeom prst="rect">
            <a:avLst/>
          </a:prstGeom>
          <a:solidFill>
            <a:srgbClr val="2E6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603504"/>
            <a:ext cx="96313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B335F"/>
                </a:solidFill>
                <a:latin typeface="맑은 고딕"/>
              </a:rPr>
              <a:t>즉시 액션 (Top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172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맑은 고딕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45775" cy="86868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800" b="1">
                <a:solidFill>
                  <a:srgbClr val="C0393B"/>
                </a:solidFill>
                <a:latin typeface="맑은 고딕"/>
              </a:rPr>
              <a:t>1. </a:t>
            </a:r>
            <a:r>
              <a:rPr sz="1800" b="1">
                <a:solidFill>
                  <a:srgbClr val="22262B"/>
                </a:solidFill>
                <a:latin typeface="맑은 고딕"/>
              </a:rPr>
              <a:t>인증체계 영향도 TF 구성</a:t>
            </a:r>
          </a:p>
          <a:p>
            <a:r>
              <a:rPr sz="1300" b="0">
                <a:solidFill>
                  <a:srgbClr val="6B7280"/>
                </a:solidFill>
                <a:latin typeface="맑은 고딕"/>
              </a:rPr>
              <a:t>   담당·기한: 디지털개발부 / 7월 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0545775" cy="86868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800" b="1">
                <a:solidFill>
                  <a:srgbClr val="C0393B"/>
                </a:solidFill>
                <a:latin typeface="맑은 고딕"/>
              </a:rPr>
              <a:t>2. </a:t>
            </a:r>
            <a:r>
              <a:rPr sz="1800" b="1">
                <a:solidFill>
                  <a:srgbClr val="22262B"/>
                </a:solidFill>
                <a:latin typeface="맑은 고딕"/>
              </a:rPr>
              <a:t>감독당국 사전 협의 착수</a:t>
            </a:r>
          </a:p>
          <a:p>
            <a:r>
              <a:rPr sz="1300" b="0">
                <a:solidFill>
                  <a:srgbClr val="6B7280"/>
                </a:solidFill>
                <a:latin typeface="맑은 고딕"/>
              </a:rPr>
              <a:t>   담당·기한: 준법감시부 / 8월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10545775" cy="868680"/>
          </a:xfrm>
          <a:prstGeom prst="roundRect">
            <a:avLst/>
          </a:prstGeom>
          <a:solidFill>
            <a:srgbClr val="E8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/>
            <a:r>
              <a:rPr sz="1800" b="1">
                <a:solidFill>
                  <a:srgbClr val="C0393B"/>
                </a:solidFill>
                <a:latin typeface="맑은 고딕"/>
              </a:rPr>
              <a:t>3. </a:t>
            </a:r>
            <a:r>
              <a:rPr sz="1800" b="1">
                <a:solidFill>
                  <a:srgbClr val="22262B"/>
                </a:solidFill>
                <a:latin typeface="맑은 고딕"/>
              </a:rPr>
              <a:t>2027년 예산 반영 요청</a:t>
            </a:r>
          </a:p>
          <a:p>
            <a:r>
              <a:rPr sz="1300" b="0">
                <a:solidFill>
                  <a:srgbClr val="6B7280"/>
                </a:solidFill>
                <a:latin typeface="맑은 고딕"/>
              </a:rPr>
              <a:t>   담당·기한: 경영기획부 / 9월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1B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71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